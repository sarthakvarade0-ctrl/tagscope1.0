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35440" y="548640"/>
            <a:ext cx="2011680" cy="2011680"/>
          </a:xfrm>
          <a:prstGeom prst="ellipse">
            <a:avLst/>
          </a:prstGeom>
          <a:solidFill>
            <a:srgbClr val="2A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2103120"/>
            <a:ext cx="1051560" cy="1051560"/>
          </a:xfrm>
          <a:prstGeom prst="ellipse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840480"/>
            <a:ext cx="1463040" cy="146304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4663440"/>
            <a:ext cx="594360" cy="594360"/>
          </a:xfrm>
          <a:prstGeom prst="ellipse">
            <a:avLst/>
          </a:prstGeom>
          <a:solidFill>
            <a:srgbClr val="31A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13232"/>
            <a:ext cx="1508760" cy="320040"/>
          </a:xfrm>
          <a:prstGeom prst="round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726948"/>
            <a:ext cx="1435607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17320"/>
            <a:ext cx="74980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Aptos"/>
              </a:rPr>
              <a:t>TagScope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71323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BEDCFF"/>
                </a:solidFill>
                <a:latin typeface="Aptos"/>
              </a:rPr>
              <a:t>Disaster Management &amp; News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337560"/>
            <a:ext cx="6400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FFFFFF"/>
                </a:solidFill>
                <a:latin typeface="Aptos"/>
              </a:rPr>
              <a:t>A platform to discover, organize, summarize and compare public news about disasters — all in one 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80644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ECDDE"/>
                </a:solidFill>
                <a:latin typeface="Aptos"/>
              </a:rPr>
              <a:t>Project overview • Modules • Workflow • Real-world value • 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263640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BECDD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0F1C30"/>
                </a:solidFill>
                <a:latin typeface="Aptos"/>
              </a:rPr>
              <a:t>The problem TagScope addresses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789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C80"/>
                </a:solidFill>
                <a:latin typeface="Aptos"/>
              </a:rPr>
              <a:t>Disaster information is often scattered across multiple news sources.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658368" cy="50292"/>
          </a:xfrm>
          <a:prstGeom prst="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6C80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1737360"/>
          </a:xfrm>
          <a:prstGeom prst="rect">
            <a:avLst/>
          </a:prstGeom>
          <a:solidFill>
            <a:srgbClr val="2A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00784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F1C30"/>
                </a:solidFill>
                <a:latin typeface="Aptos"/>
              </a:rPr>
              <a:t>Scattered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57984"/>
            <a:ext cx="3154680" cy="1133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43142"/>
                </a:solidFill>
                <a:latin typeface="Aptos"/>
              </a:rPr>
              <a:t>People may need to open several news websites to understand one developing incident.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64008" cy="173736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00784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F1C30"/>
                </a:solidFill>
                <a:latin typeface="Aptos"/>
              </a:rPr>
              <a:t>Too much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57984"/>
            <a:ext cx="3154680" cy="1133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43142"/>
                </a:solidFill>
                <a:latin typeface="Aptos"/>
              </a:rPr>
              <a:t>Many headlines and descriptions can be difficult to scan quickly during a busy news cycle.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1737360"/>
          </a:xfrm>
          <a:prstGeom prst="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00784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F1C30"/>
                </a:solidFill>
                <a:latin typeface="Aptos"/>
              </a:rPr>
              <a:t>Different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57984"/>
            <a:ext cx="3154680" cy="1133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43142"/>
                </a:solidFill>
                <a:latin typeface="Aptos"/>
              </a:rPr>
              <a:t>Publishers may emphasize different details, locations or impacts in their reporting.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0F1C30"/>
                </a:solidFill>
                <a:latin typeface="Aptos"/>
              </a:rPr>
              <a:t>The opportunity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1060704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43142"/>
                </a:solidFill>
                <a:latin typeface="Aptos"/>
              </a:rPr>
              <a:t>Bring relevant public news into a single interface, make it easier to filter, highlight recurring topics, and compare how sources cover an incident.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715000"/>
            <a:ext cx="2057400" cy="320040"/>
          </a:xfrm>
          <a:prstGeom prst="roundRect">
            <a:avLst/>
          </a:prstGeom>
          <a:solidFill>
            <a:srgbClr val="2A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5728716"/>
            <a:ext cx="1984248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FIND • UNDERSTAND •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0F1C30"/>
                </a:solidFill>
                <a:latin typeface="Aptos"/>
              </a:rPr>
              <a:t>What is TagScope?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789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C80"/>
                </a:solidFill>
                <a:latin typeface="Aptos"/>
              </a:rPr>
              <a:t>A lightweight news intelligence tool for disaster awareness and information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658368" cy="50292"/>
          </a:xfrm>
          <a:prstGeom prst="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6C80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49377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0F1C30"/>
                </a:solidFill>
                <a:latin typeface="Aptos"/>
              </a:rPr>
              <a:t>TagScope searches public news feeds for disaster-related topics and turns the retrieved reports into an organized 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5029200" cy="2331720"/>
          </a:xfrm>
          <a:prstGeom prst="rect">
            <a:avLst/>
          </a:prstGeom>
          <a:noFill/>
        </p:spPr>
        <p:txBody>
          <a:bodyPr wrap="square" lIns="109728" rIns="73152" tIns="54864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43142"/>
                </a:solidFill>
                <a:latin typeface="Aptos"/>
              </a:defRPr>
            </a:pPr>
            <a:r>
              <a:t>•  Search for floods, cyclones, earthquakes, wildfires, landslides and other incidents.</a:t>
            </a:r>
          </a:p>
          <a:p>
            <a:pPr>
              <a:spcAft>
                <a:spcPts val="1000"/>
              </a:spcAft>
              <a:defRPr sz="1600">
                <a:solidFill>
                  <a:srgbClr val="243142"/>
                </a:solidFill>
                <a:latin typeface="Aptos"/>
              </a:defRPr>
            </a:pPr>
            <a:r>
              <a:t>•  Read concise incident briefs based on available headlines and descriptions.</a:t>
            </a:r>
          </a:p>
          <a:p>
            <a:pPr>
              <a:spcAft>
                <a:spcPts val="1000"/>
              </a:spcAft>
              <a:defRPr sz="1600">
                <a:solidFill>
                  <a:srgbClr val="243142"/>
                </a:solidFill>
                <a:latin typeface="Aptos"/>
              </a:defRPr>
            </a:pPr>
            <a:r>
              <a:t>•  Filter by category, date, publisher or feed.</a:t>
            </a:r>
          </a:p>
          <a:p>
            <a:pPr>
              <a:spcAft>
                <a:spcPts val="1000"/>
              </a:spcAft>
              <a:defRPr sz="1600">
                <a:solidFill>
                  <a:srgbClr val="243142"/>
                </a:solidFill>
                <a:latin typeface="Aptos"/>
              </a:defRPr>
            </a:pPr>
            <a:r>
              <a:t>•  Explore topic activity and compare similar coverage across publishers.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331720"/>
            <a:ext cx="1508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587752"/>
            <a:ext cx="136245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A70DC"/>
                </a:solidFill>
                <a:latin typeface="Aptos"/>
              </a:rPr>
              <a:t>PUBLIC NEWS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3063240"/>
            <a:ext cx="136245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243142"/>
                </a:solidFill>
                <a:latin typeface="Aptos"/>
              </a:rPr>
              <a:t>RSS feeds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331720"/>
            <a:ext cx="1508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74152" y="2587752"/>
            <a:ext cx="136245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DBFCC"/>
                </a:solidFill>
                <a:latin typeface="Aptos"/>
              </a:rPr>
              <a:t>ORGANIZE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3063240"/>
            <a:ext cx="136245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243142"/>
                </a:solidFill>
                <a:latin typeface="Aptos"/>
              </a:rPr>
              <a:t>Filter &amp; group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2331720"/>
            <a:ext cx="1508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74352" y="2587752"/>
            <a:ext cx="136245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59E42"/>
                </a:solidFill>
                <a:latin typeface="Aptos"/>
              </a:rPr>
              <a:t>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4352" y="3063240"/>
            <a:ext cx="136245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243142"/>
                </a:solidFill>
                <a:latin typeface="Aptos"/>
              </a:rPr>
              <a:t>Briefs &amp; trends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09560" y="3035808"/>
            <a:ext cx="73152" cy="0"/>
          </a:xfrm>
          <a:prstGeom prst="line">
            <a:avLst/>
          </a:prstGeom>
          <a:ln w="19050">
            <a:solidFill>
              <a:srgbClr val="5C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3035808"/>
            <a:ext cx="73152" cy="0"/>
          </a:xfrm>
          <a:prstGeom prst="line">
            <a:avLst/>
          </a:prstGeom>
          <a:ln w="19050">
            <a:solidFill>
              <a:srgbClr val="5C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0" y="4160520"/>
            <a:ext cx="47548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i="1">
                <a:solidFill>
                  <a:srgbClr val="5C6C80"/>
                </a:solidFill>
                <a:latin typeface="Aptos"/>
              </a:rPr>
              <a:t>The aim is faster orientation to available reporting — not to replace official emergency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0F1C30"/>
                </a:solidFill>
                <a:latin typeface="Aptos"/>
              </a:rPr>
              <a:t>Who can benefit — and how?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789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C80"/>
                </a:solidFill>
                <a:latin typeface="Aptos"/>
              </a:rPr>
              <a:t>TagScope supports information discovery, not emergency command or official decision-making.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658368" cy="50292"/>
          </a:xfrm>
          <a:prstGeom prst="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6C80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64008" cy="1737360"/>
          </a:xfrm>
          <a:prstGeom prst="rect">
            <a:avLst/>
          </a:prstGeom>
          <a:solidFill>
            <a:srgbClr val="2A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00784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F1C30"/>
                </a:solidFill>
                <a:latin typeface="Aptos"/>
              </a:rPr>
              <a:t>Students &amp; researchers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57984"/>
            <a:ext cx="3154680" cy="1133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43142"/>
                </a:solidFill>
                <a:latin typeface="Aptos"/>
              </a:rPr>
              <a:t>Collect reports about a hazard, compare sources, and study how coverage changes over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64008" cy="1737360"/>
          </a:xfrm>
          <a:prstGeom prst="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00784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F1C30"/>
                </a:solidFill>
                <a:latin typeface="Aptos"/>
              </a:rPr>
              <a:t>Journalists &amp; analysts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57984"/>
            <a:ext cx="3154680" cy="1133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43142"/>
                </a:solidFill>
                <a:latin typeface="Aptos"/>
              </a:rPr>
              <a:t>Scan multiple publishers, spot repeated themes and identify differences in reported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600200"/>
            <a:ext cx="64008" cy="173736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700784"/>
            <a:ext cx="317296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F1C30"/>
                </a:solidFill>
                <a:latin typeface="Aptos"/>
              </a:rPr>
              <a:t>Community 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157984"/>
            <a:ext cx="3154680" cy="1133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43142"/>
                </a:solidFill>
                <a:latin typeface="Aptos"/>
              </a:rPr>
              <a:t>Get a broader view of public reporting about an incident without visiting every feed separately.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607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F1C30"/>
                </a:solidFill>
                <a:latin typeface="Aptos"/>
              </a:rPr>
              <a:t>Practical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A70DC"/>
                </a:solidFill>
                <a:latin typeface="Aptos"/>
              </a:rPr>
              <a:t>Less manual searching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480560"/>
            <a:ext cx="7406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43142"/>
                </a:solidFill>
                <a:latin typeface="Aptos"/>
              </a:rPr>
              <a:t>One place to start exploring relevant coverage.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A70DC"/>
                </a:solidFill>
                <a:latin typeface="Aptos"/>
              </a:rPr>
              <a:t>Quicker orientation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83480"/>
            <a:ext cx="7406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43142"/>
                </a:solidFill>
                <a:latin typeface="Aptos"/>
              </a:rPr>
              <a:t>Concise briefs help users scan the main reported points.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A70DC"/>
                </a:solidFill>
                <a:latin typeface="Aptos"/>
              </a:rPr>
              <a:t>Better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486400"/>
            <a:ext cx="7406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43142"/>
                </a:solidFill>
                <a:latin typeface="Aptos"/>
              </a:rPr>
              <a:t>Similar headlines from multiple publishers can be reviewed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0F1C30"/>
                </a:solidFill>
                <a:latin typeface="Aptos"/>
              </a:rPr>
              <a:t>The five core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789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C80"/>
                </a:solidFill>
                <a:latin typeface="Aptos"/>
              </a:rPr>
              <a:t>Each module answers a different question a user may have about an incident.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658368" cy="50292"/>
          </a:xfrm>
          <a:prstGeom prst="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6C80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37360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A70D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737360"/>
            <a:ext cx="2514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F1C30"/>
                </a:solidFill>
                <a:latin typeface="Aptos"/>
              </a:rPr>
              <a:t>Disaster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43142"/>
                </a:solidFill>
                <a:latin typeface="Aptos"/>
              </a:rPr>
              <a:t>What is being reported?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37360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DBFC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6632" y="1737360"/>
            <a:ext cx="2514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F1C30"/>
                </a:solidFill>
                <a:latin typeface="Aptos"/>
              </a:rPr>
              <a:t>Incident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86000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43142"/>
                </a:solidFill>
                <a:latin typeface="Aptos"/>
              </a:rPr>
              <a:t>What are the key points?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002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1" y="1737360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59E4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1" y="1737360"/>
            <a:ext cx="2514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F1C30"/>
                </a:solidFill>
                <a:latin typeface="Aptos"/>
              </a:rPr>
              <a:t>Advanced 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286000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43142"/>
                </a:solidFill>
                <a:latin typeface="Aptos"/>
              </a:rPr>
              <a:t>Which reports matter to me?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37947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9192" y="3931920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1A073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7832" y="3931920"/>
            <a:ext cx="2514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F1C30"/>
                </a:solidFill>
                <a:latin typeface="Aptos"/>
              </a:rPr>
              <a:t>Topic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480560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43142"/>
                </a:solidFill>
                <a:latin typeface="Aptos"/>
              </a:rPr>
              <a:t>What themes or activity recur?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7947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931920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D4D4D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931920"/>
            <a:ext cx="2514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F1C30"/>
                </a:solidFill>
                <a:latin typeface="Aptos"/>
              </a:rPr>
              <a:t>Coverage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80560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43142"/>
                </a:solidFill>
                <a:latin typeface="Aptos"/>
              </a:rPr>
              <a:t>How do publishers differ?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80644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i="1">
                <a:solidFill>
                  <a:srgbClr val="5C6C80"/>
                </a:solidFill>
                <a:latin typeface="Aptos"/>
              </a:rPr>
              <a:t>Together, these modules move from discovery to understanding and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0F1C30"/>
                </a:solidFill>
                <a:latin typeface="Aptos"/>
              </a:rPr>
              <a:t>Modules 1 &amp; 3: Search and advanced filters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789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C80"/>
                </a:solidFill>
                <a:latin typeface="Aptos"/>
              </a:rPr>
              <a:t>Find relevant reports without treating every news result as equally useful.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658368" cy="50292"/>
          </a:xfrm>
          <a:prstGeom prst="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6C80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64008" cy="1783079"/>
          </a:xfrm>
          <a:prstGeom prst="rect">
            <a:avLst/>
          </a:prstGeom>
          <a:solidFill>
            <a:srgbClr val="2A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49103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F1C30"/>
                </a:solidFill>
                <a:latin typeface="Aptos"/>
              </a:rPr>
              <a:t>Disaster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12264"/>
            <a:ext cx="4892040" cy="11795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43142"/>
                </a:solidFill>
                <a:latin typeface="Aptos"/>
              </a:rPr>
              <a:t>• Enter a keyword or select a hazard category.
• Retrieve matching public news items.
• Open the original publisher story for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64008" cy="1783079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55063"/>
            <a:ext cx="49103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F1C30"/>
                </a:solidFill>
                <a:latin typeface="Aptos"/>
              </a:rPr>
              <a:t>Advanced Filters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12264"/>
            <a:ext cx="4892040" cy="11795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43142"/>
                </a:solidFill>
                <a:latin typeface="Aptos"/>
              </a:rPr>
              <a:t>• Narrow results by disaster category.
• Limit the publication date range.
• Filter by publisher or feed and sort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10424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0F1C30"/>
                </a:solidFill>
                <a:latin typeface="Aptos"/>
              </a:rPr>
              <a:t>Example search journey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720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690872"/>
            <a:ext cx="191109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A70DC"/>
                </a:solidFill>
                <a:latin typeface="Aptos"/>
              </a:rP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047488"/>
            <a:ext cx="191109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43142"/>
                </a:solidFill>
                <a:latin typeface="Aptos"/>
              </a:rPr>
              <a:t>“Maharashtra floods”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44368" y="5047488"/>
            <a:ext cx="640080" cy="0"/>
          </a:xfrm>
          <a:prstGeom prst="line">
            <a:avLst/>
          </a:prstGeom>
          <a:ln w="21590">
            <a:solidFill>
              <a:srgbClr val="2DB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0" y="45720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2" y="4690872"/>
            <a:ext cx="191109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A70DC"/>
                </a:solidFill>
                <a:latin typeface="Aptos"/>
              </a:rPr>
              <a:t>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5047488"/>
            <a:ext cx="191109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43142"/>
                </a:solidFill>
                <a:latin typeface="Aptos"/>
              </a:rPr>
              <a:t>Choose recent dates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79008" y="5047488"/>
            <a:ext cx="640080" cy="0"/>
          </a:xfrm>
          <a:prstGeom prst="line">
            <a:avLst/>
          </a:prstGeom>
          <a:ln w="21590">
            <a:solidFill>
              <a:srgbClr val="2DB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92240" y="45720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4690872"/>
            <a:ext cx="191109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A70DC"/>
                </a:solidFill>
                <a:latin typeface="Aptos"/>
              </a:rP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047488"/>
            <a:ext cx="191109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43142"/>
                </a:solidFill>
                <a:latin typeface="Aptos"/>
              </a:rPr>
              <a:t>Scan matching headlines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13648" y="5047488"/>
            <a:ext cx="640080" cy="0"/>
          </a:xfrm>
          <a:prstGeom prst="line">
            <a:avLst/>
          </a:prstGeom>
          <a:ln w="21590">
            <a:solidFill>
              <a:srgbClr val="2DB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326880" y="45720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4690872"/>
            <a:ext cx="191109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A70DC"/>
                </a:solidFill>
                <a:latin typeface="Aptos"/>
              </a:rPr>
              <a:t>Open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047488"/>
            <a:ext cx="1911095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43142"/>
                </a:solidFill>
                <a:latin typeface="Aptos"/>
              </a:rPr>
              <a:t>Verify full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0F1C30"/>
                </a:solidFill>
                <a:latin typeface="Aptos"/>
              </a:rPr>
              <a:t>Module 2: Incident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789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C80"/>
                </a:solidFill>
                <a:latin typeface="Aptos"/>
              </a:rPr>
              <a:t>A compact overview helps users scan the available reporting faster.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658368" cy="50292"/>
          </a:xfrm>
          <a:prstGeom prst="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6C80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46634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0F1C30"/>
                </a:solidFill>
                <a:latin typeface="Aptos"/>
              </a:rP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754880" cy="2468880"/>
          </a:xfrm>
          <a:prstGeom prst="rect">
            <a:avLst/>
          </a:prstGeom>
          <a:noFill/>
        </p:spPr>
        <p:txBody>
          <a:bodyPr wrap="square" lIns="109728" rIns="73152" tIns="54864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43142"/>
                </a:solidFill>
                <a:latin typeface="Aptos"/>
              </a:defRPr>
            </a:pPr>
            <a:r>
              <a:t>•  Collects the matching headlines and available descriptions.</a:t>
            </a:r>
          </a:p>
          <a:p>
            <a:pPr>
              <a:spcAft>
                <a:spcPts val="1000"/>
              </a:spcAft>
              <a:defRPr sz="1600">
                <a:solidFill>
                  <a:srgbClr val="243142"/>
                </a:solidFill>
                <a:latin typeface="Aptos"/>
              </a:defRPr>
            </a:pPr>
            <a:r>
              <a:t>•  Condenses the information into a short incident overview.</a:t>
            </a:r>
          </a:p>
          <a:p>
            <a:pPr>
              <a:spcAft>
                <a:spcPts val="1000"/>
              </a:spcAft>
              <a:defRPr sz="1600">
                <a:solidFill>
                  <a:srgbClr val="243142"/>
                </a:solidFill>
                <a:latin typeface="Aptos"/>
              </a:defRPr>
            </a:pPr>
            <a:r>
              <a:t>•  Highlights key terms or repeated points when available.</a:t>
            </a:r>
          </a:p>
          <a:p>
            <a:pPr>
              <a:spcAft>
                <a:spcPts val="1000"/>
              </a:spcAft>
              <a:defRPr sz="1600">
                <a:solidFill>
                  <a:srgbClr val="243142"/>
                </a:solidFill>
                <a:latin typeface="Aptos"/>
              </a:defRPr>
            </a:pPr>
            <a:r>
              <a:t>•  Keeps the original article links accessible for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53035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1371600" cy="320040"/>
          </a:xfrm>
          <a:prstGeom prst="round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216" y="1842516"/>
            <a:ext cx="1298448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ILLUSTRATION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331720"/>
            <a:ext cx="4480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0F1C30"/>
                </a:solidFill>
                <a:latin typeface="Aptos"/>
              </a:rPr>
              <a:t>Incident brief: Heavy rainfall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880360"/>
            <a:ext cx="45262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43142"/>
                </a:solidFill>
                <a:latin typeface="Aptos"/>
              </a:rPr>
              <a:t>Several retrieved reports discuss heavy rainfall and flooding. Coverage mentions affected areas, transport disruption and response activity. Users should open the original reports to confirm locations, timing and details.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526280"/>
            <a:ext cx="45262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5C6C80"/>
                </a:solidFill>
                <a:latin typeface="Aptos"/>
              </a:rPr>
              <a:t>Important: this is a sample format, not a live incident report.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4663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CD4D4D"/>
                </a:solidFill>
                <a:latin typeface="Aptos"/>
              </a:rPr>
              <a:t>Design principle: concise does not mean confirmed. A brief reflects the sources retrieved and may omit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0F1C30"/>
                </a:solidFill>
                <a:latin typeface="Aptos"/>
              </a:rPr>
              <a:t>Modules 4 &amp; 5: Analytics and coverage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789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C80"/>
                </a:solidFill>
                <a:latin typeface="Aptos"/>
              </a:rPr>
              <a:t>Turn a list of articles into patterns users can inspect.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658368" cy="50292"/>
          </a:xfrm>
          <a:prstGeom prst="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6C80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64008" cy="1600200"/>
          </a:xfrm>
          <a:prstGeom prst="rect">
            <a:avLst/>
          </a:prstGeom>
          <a:solidFill>
            <a:srgbClr val="31A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49103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F1C30"/>
                </a:solidFill>
                <a:latin typeface="Aptos"/>
              </a:rPr>
              <a:t>Topic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12264"/>
            <a:ext cx="4892040" cy="9966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43142"/>
                </a:solidFill>
                <a:latin typeface="Aptos"/>
              </a:rPr>
              <a:t>Shows counts of retrieved articles, recurring terms and publication activity. This can help users see which topics are prominent in the collected feed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64008" cy="1600200"/>
          </a:xfrm>
          <a:prstGeom prst="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55063"/>
            <a:ext cx="49103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F1C30"/>
                </a:solidFill>
                <a:latin typeface="Aptos"/>
              </a:rPr>
              <a:t>Coverage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12264"/>
            <a:ext cx="4892040" cy="9966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43142"/>
                </a:solidFill>
                <a:latin typeface="Aptos"/>
              </a:rPr>
              <a:t>Groups similar headlines across publishers so users can compare emphasis, wording and reported details, then follow source links.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607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0F1C30"/>
                </a:solidFill>
                <a:latin typeface="Aptos"/>
              </a:rPr>
              <a:t>Example of a simple analytics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1508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43142"/>
                </a:solidFill>
                <a:latin typeface="Aptos"/>
              </a:rPr>
              <a:t>Flooding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4325112"/>
            <a:ext cx="4846320" cy="201168"/>
          </a:xfrm>
          <a:prstGeom prst="round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14600" y="4325112"/>
            <a:ext cx="3973982" cy="201168"/>
          </a:xfrm>
          <a:prstGeom prst="roundRect">
            <a:avLst/>
          </a:prstGeom>
          <a:solidFill>
            <a:srgbClr val="2A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00016"/>
            <a:ext cx="1508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43142"/>
                </a:solidFill>
                <a:latin typeface="Aptos"/>
              </a:rPr>
              <a:t>Road closures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4600" y="4709159"/>
            <a:ext cx="4846320" cy="201168"/>
          </a:xfrm>
          <a:prstGeom prst="round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14600" y="4709159"/>
            <a:ext cx="3004718" cy="201168"/>
          </a:xfrm>
          <a:prstGeom prst="round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84064"/>
            <a:ext cx="1508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43142"/>
                </a:solidFill>
                <a:latin typeface="Aptos"/>
              </a:rPr>
              <a:t>Rescue 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4600" y="5093207"/>
            <a:ext cx="4846320" cy="201168"/>
          </a:xfrm>
          <a:prstGeom prst="round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14600" y="5093207"/>
            <a:ext cx="2229307" cy="201168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68112"/>
            <a:ext cx="1508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43142"/>
                </a:solidFill>
                <a:latin typeface="Aptos"/>
              </a:rPr>
              <a:t>Rainfall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14600" y="5477255"/>
            <a:ext cx="4846320" cy="201168"/>
          </a:xfrm>
          <a:prstGeom prst="round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14600" y="5477255"/>
            <a:ext cx="1696211" cy="201168"/>
          </a:xfrm>
          <a:prstGeom prst="roundRect">
            <a:avLst/>
          </a:prstGeom>
          <a:solidFill>
            <a:srgbClr val="31A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4370832"/>
            <a:ext cx="33832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5C6C80"/>
                </a:solidFill>
                <a:latin typeface="Aptos"/>
              </a:rPr>
              <a:t>Illustrative only — values are examples, not measured data. Counts and terms depend on retrieved feed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0F1C30"/>
                </a:solidFill>
                <a:latin typeface="Aptos"/>
              </a:rPr>
              <a:t>How the system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789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C80"/>
                </a:solidFill>
                <a:latin typeface="Aptos"/>
              </a:rPr>
              <a:t>A straightforward pipeline from public feeds to a user-facing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658368" cy="50292"/>
          </a:xfrm>
          <a:prstGeom prst="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6C80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16916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95728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2A70DC"/>
                </a:solidFill>
                <a:latin typeface="Aptos"/>
              </a:rPr>
              <a:t>1. User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880360"/>
            <a:ext cx="1545336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243142"/>
                </a:solidFill>
                <a:latin typeface="Aptos"/>
              </a:rPr>
              <a:t>Keyword / hazard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2834640"/>
            <a:ext cx="521208" cy="0"/>
          </a:xfrm>
          <a:prstGeom prst="line">
            <a:avLst/>
          </a:prstGeom>
          <a:ln w="25400">
            <a:solidFill>
              <a:srgbClr val="2DB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148840"/>
            <a:ext cx="16916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2395728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2A70DC"/>
                </a:solidFill>
                <a:latin typeface="Aptos"/>
              </a:rPr>
              <a:t>2. Fetch news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880360"/>
            <a:ext cx="1545336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243142"/>
                </a:solidFill>
                <a:latin typeface="Aptos"/>
              </a:rPr>
              <a:t>Public RSS feeds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3440" y="2834640"/>
            <a:ext cx="521208" cy="0"/>
          </a:xfrm>
          <a:prstGeom prst="line">
            <a:avLst/>
          </a:prstGeom>
          <a:ln w="25400">
            <a:solidFill>
              <a:srgbClr val="2DB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7800" y="2148840"/>
            <a:ext cx="16916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2395728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2A70DC"/>
                </a:solidFill>
                <a:latin typeface="Aptos"/>
              </a:rPr>
              <a:t>3. Normalize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880360"/>
            <a:ext cx="1545336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243142"/>
                </a:solidFill>
                <a:latin typeface="Aptos"/>
              </a:rPr>
              <a:t>Titles, dates, links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95160" y="2834640"/>
            <a:ext cx="521208" cy="0"/>
          </a:xfrm>
          <a:prstGeom prst="line">
            <a:avLst/>
          </a:prstGeom>
          <a:ln w="25400">
            <a:solidFill>
              <a:srgbClr val="2DB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89520" y="2148840"/>
            <a:ext cx="16916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2" y="2395728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2A70DC"/>
                </a:solidFill>
                <a:latin typeface="Aptos"/>
              </a:rPr>
              <a:t>4. 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2880360"/>
            <a:ext cx="1545336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243142"/>
                </a:solidFill>
                <a:latin typeface="Aptos"/>
              </a:rPr>
              <a:t>Filter, group, count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0" y="2834640"/>
            <a:ext cx="521208" cy="0"/>
          </a:xfrm>
          <a:prstGeom prst="line">
            <a:avLst/>
          </a:prstGeom>
          <a:ln w="25400">
            <a:solidFill>
              <a:srgbClr val="2DBF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921240" y="2148840"/>
            <a:ext cx="16916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94392" y="2395728"/>
            <a:ext cx="15453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2A70DC"/>
                </a:solidFill>
                <a:latin typeface="Aptos"/>
              </a:rPr>
              <a:t>5. Present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4392" y="2880360"/>
            <a:ext cx="1545336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243142"/>
                </a:solidFill>
                <a:latin typeface="Aptos"/>
              </a:rPr>
              <a:t>Results &amp; 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60520"/>
            <a:ext cx="10424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0F1C30"/>
                </a:solidFill>
                <a:latin typeface="Aptos"/>
              </a:rPr>
              <a:t>Data sources and 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72000"/>
            <a:ext cx="10241280" cy="1280160"/>
          </a:xfrm>
          <a:prstGeom prst="rect">
            <a:avLst/>
          </a:prstGeom>
          <a:noFill/>
        </p:spPr>
        <p:txBody>
          <a:bodyPr wrap="square" lIns="109728" rIns="73152" tIns="54864" bIns="36576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43142"/>
                </a:solidFill>
                <a:latin typeface="Aptos"/>
              </a:defRPr>
            </a:pPr>
            <a:r>
              <a:t>•  Uses public news feeds such as Google News RSS, with Bing News RSS as a fallback where configured.</a:t>
            </a:r>
          </a:p>
          <a:p>
            <a:pPr>
              <a:spcAft>
                <a:spcPts val="500"/>
              </a:spcAft>
              <a:defRPr sz="1300">
                <a:solidFill>
                  <a:srgbClr val="243142"/>
                </a:solidFill>
                <a:latin typeface="Aptos"/>
              </a:defRPr>
            </a:pPr>
            <a:r>
              <a:t>•  Works from the title, snippet/description, date and source link made available by the feed.</a:t>
            </a:r>
          </a:p>
          <a:p>
            <a:pPr>
              <a:spcAft>
                <a:spcPts val="500"/>
              </a:spcAft>
              <a:defRPr sz="1300">
                <a:solidFill>
                  <a:srgbClr val="243142"/>
                </a:solidFill>
                <a:latin typeface="Aptos"/>
              </a:defRPr>
            </a:pPr>
            <a:r>
              <a:t>•  Does not require a paid AI API key for the described headline/description-based brief approach.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0F1C30"/>
                </a:solidFill>
                <a:latin typeface="Aptos"/>
              </a:rPr>
              <a:t>Example use case: a flood 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789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C80"/>
                </a:solidFill>
                <a:latin typeface="Aptos"/>
              </a:rPr>
              <a:t>A practical walk-through of how a user could use TagScope.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658368" cy="50292"/>
          </a:xfrm>
          <a:prstGeom prst="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6C80"/>
                </a:solidFill>
                <a:latin typeface="Aptos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536192"/>
            <a:ext cx="475488" cy="475488"/>
          </a:xfrm>
          <a:prstGeom prst="ellipse">
            <a:avLst/>
          </a:prstGeom>
          <a:solidFill>
            <a:srgbClr val="2A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618488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0876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F1C30"/>
                </a:solidFill>
                <a:latin typeface="Aptos"/>
              </a:rPr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508760"/>
            <a:ext cx="79552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43142"/>
                </a:solidFill>
                <a:latin typeface="Aptos"/>
              </a:rPr>
              <a:t>Enter “flooding” or a location-related phrase.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395727"/>
            <a:ext cx="475488" cy="475488"/>
          </a:xfrm>
          <a:prstGeom prst="ellipse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478024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368296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F1C30"/>
                </a:solidFill>
                <a:latin typeface="Aptos"/>
              </a:rPr>
              <a:t>Narrow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368296"/>
            <a:ext cx="79552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43142"/>
                </a:solidFill>
                <a:latin typeface="Aptos"/>
              </a:rPr>
              <a:t>Select a date range and relevant news feed.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255263"/>
            <a:ext cx="475488" cy="475488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3337560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27832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F1C30"/>
                </a:solidFill>
                <a:latin typeface="Aptos"/>
              </a:rPr>
              <a:t>Understand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227832"/>
            <a:ext cx="79552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43142"/>
                </a:solidFill>
                <a:latin typeface="Aptos"/>
              </a:rPr>
              <a:t>Read the incident brief and inspect repeated terms.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114800"/>
            <a:ext cx="475488" cy="475488"/>
          </a:xfrm>
          <a:prstGeom prst="ellipse">
            <a:avLst/>
          </a:prstGeom>
          <a:solidFill>
            <a:srgbClr val="31A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4197096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87368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F1C30"/>
                </a:solidFill>
                <a:latin typeface="Aptos"/>
              </a:rPr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087368"/>
            <a:ext cx="79552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43142"/>
                </a:solidFill>
                <a:latin typeface="Aptos"/>
              </a:rPr>
              <a:t>Review similar headlines from different publishers.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974336"/>
            <a:ext cx="475488" cy="475488"/>
          </a:xfrm>
          <a:prstGeom prst="ellipse">
            <a:avLst/>
          </a:prstGeom>
          <a:solidFill>
            <a:srgbClr val="C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505663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46904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F1C30"/>
                </a:solidFill>
                <a:latin typeface="Aptos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946904"/>
            <a:ext cx="79552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43142"/>
                </a:solidFill>
                <a:latin typeface="Aptos"/>
              </a:rPr>
              <a:t>Open original stories and check official local advisories separately.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A70DC"/>
                </a:solidFill>
                <a:latin typeface="Aptos"/>
              </a:rPr>
              <a:t>Outcome: a more organized starting point for understanding public reporting about the event.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0F1C30"/>
                </a:solidFill>
                <a:latin typeface="Aptos"/>
              </a:rPr>
              <a:t>Limitations and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789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C80"/>
                </a:solidFill>
                <a:latin typeface="Aptos"/>
              </a:rPr>
              <a:t>Trustworthy disaster information requires clear boundaries.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658368" cy="50292"/>
          </a:xfrm>
          <a:prstGeom prst="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6C80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64008" cy="150876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49103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F1C30"/>
                </a:solidFill>
                <a:latin typeface="Aptos"/>
              </a:rPr>
              <a:t>News-feed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12264"/>
            <a:ext cx="4892040" cy="9052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43142"/>
                </a:solidFill>
                <a:latin typeface="Aptos"/>
              </a:rPr>
              <a:t>Feeds can be delayed, incomplete, duplicated or unavailable. Search results are not a complete picture of every incident.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64008" cy="1508760"/>
          </a:xfrm>
          <a:prstGeom prst="rect">
            <a:avLst/>
          </a:prstGeom>
          <a:solidFill>
            <a:srgbClr val="C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55063"/>
            <a:ext cx="49103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F1C30"/>
                </a:solidFill>
                <a:latin typeface="Aptos"/>
              </a:rPr>
              <a:t>Summary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12264"/>
            <a:ext cx="4892040" cy="9052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43142"/>
                </a:solidFill>
                <a:latin typeface="Aptos"/>
              </a:rPr>
              <a:t>Briefs are based on available titles and descriptions; they may miss nuance, uncertainty or important corrections.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64008" cy="1508760"/>
          </a:xfrm>
          <a:prstGeom prst="rect">
            <a:avLst/>
          </a:prstGeom>
          <a:solidFill>
            <a:srgbClr val="C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575304"/>
            <a:ext cx="49103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F1C30"/>
                </a:solidFill>
                <a:latin typeface="Aptos"/>
              </a:rPr>
              <a:t>Not an official alert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32504"/>
            <a:ext cx="4892040" cy="9052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43142"/>
                </a:solidFill>
                <a:latin typeface="Aptos"/>
              </a:rPr>
              <a:t>Do not use TagScope as the sole basis for evacuation, medical, rescue or other emergency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74720"/>
            <a:ext cx="64008" cy="1508760"/>
          </a:xfrm>
          <a:prstGeom prst="rect">
            <a:avLst/>
          </a:prstGeom>
          <a:solidFill>
            <a:srgbClr val="31A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575304"/>
            <a:ext cx="49103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F1C30"/>
                </a:solidFill>
                <a:latin typeface="Aptos"/>
              </a:rPr>
              <a:t>Verify and cross-check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032504"/>
            <a:ext cx="4892040" cy="9052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43142"/>
                </a:solidFill>
                <a:latin typeface="Aptos"/>
              </a:rPr>
              <a:t>Open original articles and consult official authorities for current warnings, instructions and verified details.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0F1C30"/>
                </a:solidFill>
                <a:latin typeface="Aptos"/>
              </a:rPr>
              <a:t>TagScope supports awareness and analysis; it does not replace official emergency guidance.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0F1C30"/>
                </a:solidFill>
                <a:latin typeface="Aptos"/>
              </a:rPr>
              <a:t>Future scope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789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C80"/>
                </a:solidFill>
                <a:latin typeface="Aptos"/>
              </a:rPr>
              <a:t>A foundation that can grow into a more capable disaster information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88720"/>
            <a:ext cx="658368" cy="50292"/>
          </a:xfrm>
          <a:prstGeom prst="rect">
            <a:avLst/>
          </a:prstGeom>
          <a:solidFill>
            <a:srgbClr val="2DB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6C80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029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F1C30"/>
                </a:solidFill>
                <a:latin typeface="Aptos"/>
              </a:rPr>
              <a:t>Possible future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5074920" cy="2926080"/>
          </a:xfrm>
          <a:prstGeom prst="rect">
            <a:avLst/>
          </a:prstGeom>
          <a:noFill/>
        </p:spPr>
        <p:txBody>
          <a:bodyPr wrap="square" lIns="109728" rIns="73152" tIns="54864" bIns="36576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43142"/>
                </a:solidFill>
                <a:latin typeface="Aptos"/>
              </a:defRPr>
            </a:pPr>
            <a:r>
              <a:t>•  Add official weather and disaster-authority feeds where access is permitted.</a:t>
            </a:r>
          </a:p>
          <a:p>
            <a:pPr>
              <a:spcAft>
                <a:spcPts val="900"/>
              </a:spcAft>
              <a:defRPr sz="1500">
                <a:solidFill>
                  <a:srgbClr val="243142"/>
                </a:solidFill>
                <a:latin typeface="Aptos"/>
              </a:defRPr>
            </a:pPr>
            <a:r>
              <a:t>•  Add maps and location-aware filtering with careful validation.</a:t>
            </a:r>
          </a:p>
          <a:p>
            <a:pPr>
              <a:spcAft>
                <a:spcPts val="900"/>
              </a:spcAft>
              <a:defRPr sz="1500">
                <a:solidFill>
                  <a:srgbClr val="243142"/>
                </a:solidFill>
                <a:latin typeface="Aptos"/>
              </a:defRPr>
            </a:pPr>
            <a:r>
              <a:t>•  Improve duplicate detection and incident clustering.</a:t>
            </a:r>
          </a:p>
          <a:p>
            <a:pPr>
              <a:spcAft>
                <a:spcPts val="900"/>
              </a:spcAft>
              <a:defRPr sz="1500">
                <a:solidFill>
                  <a:srgbClr val="243142"/>
                </a:solidFill>
                <a:latin typeface="Aptos"/>
              </a:defRPr>
            </a:pPr>
            <a:r>
              <a:t>•  Show timestamps, source quality cues and update history.</a:t>
            </a:r>
          </a:p>
          <a:p>
            <a:pPr>
              <a:spcAft>
                <a:spcPts val="900"/>
              </a:spcAft>
              <a:defRPr sz="1500">
                <a:solidFill>
                  <a:srgbClr val="243142"/>
                </a:solidFill>
                <a:latin typeface="Aptos"/>
              </a:defRPr>
            </a:pPr>
            <a:r>
              <a:t>•  Add accessible mobile layouts and multilingual summaries.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74920" cy="3566160"/>
          </a:xfrm>
          <a:prstGeom prst="roundRect">
            <a:avLst/>
          </a:prstGeom>
          <a:solidFill>
            <a:srgbClr val="0F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11680"/>
            <a:ext cx="4434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697480"/>
            <a:ext cx="43434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FFFFFF"/>
                </a:solidFill>
                <a:latin typeface="Aptos"/>
              </a:rPr>
              <a:t>TagScope brings disaster-related news discovery, concise briefs, filters, topic analytics and source comparison into one place. It can reduce manual searching and help users examine public reporting more systematically.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526280"/>
            <a:ext cx="43434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91DCE6"/>
                </a:solidFill>
                <a:latin typeface="Aptos"/>
              </a:rPr>
              <a:t>Find information. Understand coverage. Verify the source.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2A70DC"/>
                </a:solidFill>
                <a:latin typeface="Aptos"/>
              </a:rP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TagScope — Disaster Management &amp; News Intelligence</dc:title>
  <dc:subject>Detailed project explanation, workflow, benefits, limitations and future scope</dc:subject>
  <dc:creator>OpenAI</dc:creator>
  <cp:keywords>TagScope, disaster management, news intelligence, RSS, project presentation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